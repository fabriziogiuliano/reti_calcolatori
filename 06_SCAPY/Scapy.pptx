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960" r:id="rId2"/>
    <p:sldId id="956" r:id="rId3"/>
    <p:sldId id="961" r:id="rId4"/>
    <p:sldId id="964" r:id="rId5"/>
    <p:sldId id="963" r:id="rId6"/>
    <p:sldId id="962" r:id="rId7"/>
    <p:sldId id="966" r:id="rId8"/>
    <p:sldId id="965" r:id="rId9"/>
    <p:sldId id="967" r:id="rId10"/>
    <p:sldId id="968" r:id="rId11"/>
    <p:sldId id="969" r:id="rId12"/>
    <p:sldId id="97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FA03"/>
    <a:srgbClr val="02FF00"/>
    <a:srgbClr val="3C6CDF"/>
    <a:srgbClr val="0000A3"/>
    <a:srgbClr val="ED356A"/>
    <a:srgbClr val="E40000"/>
    <a:srgbClr val="FFB3D3"/>
    <a:srgbClr val="FA376E"/>
    <a:srgbClr val="9CDFF9"/>
    <a:srgbClr val="0000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DA5B65B-C411-994F-B3A7-39F533FC267E}" v="1" dt="2025-10-31T07:27:46.99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433"/>
    <p:restoredTop sz="79863"/>
  </p:normalViewPr>
  <p:slideViewPr>
    <p:cSldViewPr snapToGrid="0" snapToObjects="1">
      <p:cViewPr varScale="1">
        <p:scale>
          <a:sx n="96" d="100"/>
          <a:sy n="96" d="100"/>
        </p:scale>
        <p:origin x="1424" y="160"/>
      </p:cViewPr>
      <p:guideLst/>
    </p:cSldViewPr>
  </p:slideViewPr>
  <p:outlineViewPr>
    <p:cViewPr>
      <p:scale>
        <a:sx n="33" d="100"/>
        <a:sy n="33" d="100"/>
      </p:scale>
      <p:origin x="0" y="-25744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BRIZIO GIULIANO" userId="b067ced6-938c-4f79-89df-6c1debfbfd7c" providerId="ADAL" clId="{8B76302B-4827-5865-BAEA-A70389EDF0B5}"/>
    <pc:docChg chg="custSel addSld modSld">
      <pc:chgData name="FABRIZIO GIULIANO" userId="b067ced6-938c-4f79-89df-6c1debfbfd7c" providerId="ADAL" clId="{8B76302B-4827-5865-BAEA-A70389EDF0B5}" dt="2025-10-31T07:30:27.147" v="874" actId="20577"/>
      <pc:docMkLst>
        <pc:docMk/>
      </pc:docMkLst>
      <pc:sldChg chg="modSp new mod">
        <pc:chgData name="FABRIZIO GIULIANO" userId="b067ced6-938c-4f79-89df-6c1debfbfd7c" providerId="ADAL" clId="{8B76302B-4827-5865-BAEA-A70389EDF0B5}" dt="2025-10-31T07:26:08.640" v="398" actId="113"/>
        <pc:sldMkLst>
          <pc:docMk/>
          <pc:sldMk cId="769738166" sldId="968"/>
        </pc:sldMkLst>
        <pc:spChg chg="mod">
          <ac:chgData name="FABRIZIO GIULIANO" userId="b067ced6-938c-4f79-89df-6c1debfbfd7c" providerId="ADAL" clId="{8B76302B-4827-5865-BAEA-A70389EDF0B5}" dt="2025-10-31T07:26:08.640" v="398" actId="113"/>
          <ac:spMkLst>
            <pc:docMk/>
            <pc:sldMk cId="769738166" sldId="968"/>
            <ac:spMk id="2" creationId="{243B85C5-619A-BC84-04DE-57549F2079FA}"/>
          </ac:spMkLst>
        </pc:spChg>
        <pc:spChg chg="mod">
          <ac:chgData name="FABRIZIO GIULIANO" userId="b067ced6-938c-4f79-89df-6c1debfbfd7c" providerId="ADAL" clId="{8B76302B-4827-5865-BAEA-A70389EDF0B5}" dt="2025-10-31T07:19:28.183" v="12" actId="20577"/>
          <ac:spMkLst>
            <pc:docMk/>
            <pc:sldMk cId="769738166" sldId="968"/>
            <ac:spMk id="3" creationId="{FA6A672F-1CD9-A30B-D517-F26949D59B9F}"/>
          </ac:spMkLst>
        </pc:spChg>
      </pc:sldChg>
      <pc:sldChg chg="modSp new mod">
        <pc:chgData name="FABRIZIO GIULIANO" userId="b067ced6-938c-4f79-89df-6c1debfbfd7c" providerId="ADAL" clId="{8B76302B-4827-5865-BAEA-A70389EDF0B5}" dt="2025-10-31T07:28:50.560" v="664" actId="20577"/>
        <pc:sldMkLst>
          <pc:docMk/>
          <pc:sldMk cId="3456432464" sldId="969"/>
        </pc:sldMkLst>
        <pc:spChg chg="mod">
          <ac:chgData name="FABRIZIO GIULIANO" userId="b067ced6-938c-4f79-89df-6c1debfbfd7c" providerId="ADAL" clId="{8B76302B-4827-5865-BAEA-A70389EDF0B5}" dt="2025-10-31T07:28:50.560" v="664" actId="20577"/>
          <ac:spMkLst>
            <pc:docMk/>
            <pc:sldMk cId="3456432464" sldId="969"/>
            <ac:spMk id="2" creationId="{917401B4-4F80-DA3F-9C15-519F221DE36D}"/>
          </ac:spMkLst>
        </pc:spChg>
        <pc:spChg chg="mod">
          <ac:chgData name="FABRIZIO GIULIANO" userId="b067ced6-938c-4f79-89df-6c1debfbfd7c" providerId="ADAL" clId="{8B76302B-4827-5865-BAEA-A70389EDF0B5}" dt="2025-10-31T07:26:33.248" v="447" actId="20577"/>
          <ac:spMkLst>
            <pc:docMk/>
            <pc:sldMk cId="3456432464" sldId="969"/>
            <ac:spMk id="3" creationId="{E45C461A-5193-E3F4-4E1B-0F76F9BE8546}"/>
          </ac:spMkLst>
        </pc:spChg>
      </pc:sldChg>
      <pc:sldChg chg="modSp new mod">
        <pc:chgData name="FABRIZIO GIULIANO" userId="b067ced6-938c-4f79-89df-6c1debfbfd7c" providerId="ADAL" clId="{8B76302B-4827-5865-BAEA-A70389EDF0B5}" dt="2025-10-31T07:30:27.147" v="874" actId="20577"/>
        <pc:sldMkLst>
          <pc:docMk/>
          <pc:sldMk cId="2566831463" sldId="970"/>
        </pc:sldMkLst>
        <pc:spChg chg="mod">
          <ac:chgData name="FABRIZIO GIULIANO" userId="b067ced6-938c-4f79-89df-6c1debfbfd7c" providerId="ADAL" clId="{8B76302B-4827-5865-BAEA-A70389EDF0B5}" dt="2025-10-31T07:30:27.147" v="874" actId="20577"/>
          <ac:spMkLst>
            <pc:docMk/>
            <pc:sldMk cId="2566831463" sldId="970"/>
            <ac:spMk id="2" creationId="{D5FA7833-6428-D2B3-6F0B-7D976CA33260}"/>
          </ac:spMkLst>
        </pc:spChg>
        <pc:spChg chg="mod">
          <ac:chgData name="FABRIZIO GIULIANO" userId="b067ced6-938c-4f79-89df-6c1debfbfd7c" providerId="ADAL" clId="{8B76302B-4827-5865-BAEA-A70389EDF0B5}" dt="2025-10-31T07:29:12.819" v="696" actId="20577"/>
          <ac:spMkLst>
            <pc:docMk/>
            <pc:sldMk cId="2566831463" sldId="970"/>
            <ac:spMk id="3" creationId="{C2FFB193-F28A-2C98-EA68-3C39D0696D0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53024D-5FCD-D142-BBE1-7B391F60AD88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91EEAC-CFEF-9647-876F-EABC6B833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561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E15B82-CEA2-8033-5779-E669C79B9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522BD2-EFD6-E994-E368-795FE38D79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50F538-E98A-9246-41FC-36DE51BD21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F521A7-D48B-A38D-146E-2946FB8178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6850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32008-0D04-A76E-9F79-5B7B4DBCD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282881-563E-62EF-9AE7-A8F01BEC41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0C050D-ECC0-23AE-B67C-6EE62229CD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F68CAE-3DC1-682A-83C8-B0BB47EC52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5634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8990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EC686-8429-2E40-81FA-5EC9C4AB3C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C2C238-9334-5D47-BE46-7DBB933E48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7F1199A-45E4-9E4D-95C0-396A8A9C6F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36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2846C-3DC3-2A4C-84E1-3E3C50231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4027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32235DD-B99A-7744-92BB-36CB49B43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1717D89-2D64-4E49-A8B8-D7B9326607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8446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48D4C-6954-CC4D-A491-4B78BF548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E2032-3F11-1945-8A1D-25EC80CF91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DCF1CB-5DBA-8B49-A839-F079E4BF43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E873D4E-4EDA-1349-AB14-5DC995BFCD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3958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B102D-EC4F-B64D-BB0A-3CBBCEE21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0DCD8E0-36D6-2D43-9C3A-92DC921E1D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2131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6D5FD2-E0BC-9B4A-8B69-BFD8F956C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987CFD-1EF3-634C-B854-216A26AC23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7C6EBB-9D5E-E84A-9BCA-EA7E05FD1C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5165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rgbClr val="0000A3"/>
          </a:solidFill>
          <a:latin typeface="+mn-lt"/>
          <a:ea typeface="+mj-ea"/>
          <a:cs typeface="+mj-cs"/>
        </a:defRPr>
      </a:lvl1pPr>
    </p:titleStyle>
    <p:bodyStyle>
      <a:lvl1pPr marL="352425" indent="-222250" algn="l" defTabSz="914400" rtl="0" eaLnBrk="1" latinLnBrk="0" hangingPunct="1">
        <a:lnSpc>
          <a:spcPct val="90000"/>
        </a:lnSpc>
        <a:spcBef>
          <a:spcPts val="1000"/>
        </a:spcBef>
        <a:buClr>
          <a:srgbClr val="0000A3"/>
        </a:buClr>
        <a:buFont typeface="Wingdings" pitchFamily="2" charset="2"/>
        <a:buChar char="§"/>
        <a:tabLst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95325" indent="-231775" algn="l" defTabSz="914400" rtl="0" eaLnBrk="1" latinLnBrk="0" hangingPunct="1">
        <a:lnSpc>
          <a:spcPct val="90000"/>
        </a:lnSpc>
        <a:spcBef>
          <a:spcPts val="500"/>
        </a:spcBef>
        <a:buClr>
          <a:srgbClr val="0000A8"/>
        </a:buClr>
        <a:buFont typeface="Arial" panose="020B0604020202020204" pitchFamily="34" charset="0"/>
        <a:buChar char="•"/>
        <a:tabLst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B795D-C042-198A-BDB4-0F0BDE0BF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>
            <a:extLst>
              <a:ext uri="{FF2B5EF4-FFF2-40B4-BE49-F238E27FC236}">
                <a16:creationId xmlns:a16="http://schemas.microsoft.com/office/drawing/2014/main" id="{9FF050DF-4507-70AA-390D-F43FEFF39C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5035" y="561975"/>
            <a:ext cx="5052616" cy="172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85000"/>
              </a:lnSpc>
            </a:pPr>
            <a:r>
              <a:rPr lang="en-US" altLang="en-US" sz="5400" b="1" dirty="0">
                <a:solidFill>
                  <a:srgbClr val="000099"/>
                </a:solidFill>
                <a:latin typeface="+mj-lt"/>
              </a:rPr>
              <a:t>SCAPY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EFEAB1-4465-82A3-6450-D0D1AB4C41F2}"/>
              </a:ext>
            </a:extLst>
          </p:cNvPr>
          <p:cNvSpPr txBox="1"/>
          <p:nvPr/>
        </p:nvSpPr>
        <p:spPr>
          <a:xfrm>
            <a:off x="2347356" y="533383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ref: https://</a:t>
            </a:r>
            <a:r>
              <a:rPr lang="en-US" dirty="0" err="1"/>
              <a:t>scapy.readthedocs.io</a:t>
            </a:r>
            <a:r>
              <a:rPr lang="en-US" dirty="0"/>
              <a:t>/</a:t>
            </a:r>
            <a:r>
              <a:rPr lang="en-US" dirty="0" err="1"/>
              <a:t>en</a:t>
            </a:r>
            <a:r>
              <a:rPr lang="en-US" dirty="0"/>
              <a:t>/latest/</a:t>
            </a:r>
            <a:r>
              <a:rPr lang="en-US" dirty="0" err="1"/>
              <a:t>introduction.html</a:t>
            </a:r>
            <a:endParaRPr lang="en-US" dirty="0"/>
          </a:p>
        </p:txBody>
      </p:sp>
      <p:pic>
        <p:nvPicPr>
          <p:cNvPr id="10" name="Picture 9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CF55D475-0993-5A6F-BFB8-3B82C0AD1D6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800" r="22689"/>
          <a:stretch>
            <a:fillRect/>
          </a:stretch>
        </p:blipFill>
        <p:spPr>
          <a:xfrm>
            <a:off x="5046046" y="1314048"/>
            <a:ext cx="6607608" cy="3067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172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4F147D-17D6-29FD-BA34-CD6AF2EC3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0603CC-8E3E-30F5-B837-60FF55EBCD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400050" indent="-285750">
              <a:buFont typeface="Wingdings" charset="2"/>
              <a:buChar char="§"/>
              <a:defRPr/>
            </a:pPr>
            <a:r>
              <a:rPr lang="en-US" sz="3200" dirty="0"/>
              <a:t>Explore python </a:t>
            </a:r>
            <a:r>
              <a:rPr lang="en-US" sz="3200" dirty="0" err="1"/>
              <a:t>scapy</a:t>
            </a:r>
            <a:r>
              <a:rPr lang="en-US" sz="3200" dirty="0"/>
              <a:t> package:</a:t>
            </a:r>
          </a:p>
          <a:p>
            <a:pPr lvl="1">
              <a:buFont typeface="Arial"/>
              <a:buChar char="•"/>
              <a:defRPr/>
            </a:pPr>
            <a:r>
              <a:rPr lang="en-US" sz="2800" dirty="0" err="1"/>
              <a:t>Scapy</a:t>
            </a:r>
            <a:r>
              <a:rPr lang="en-US" sz="2800" dirty="0"/>
              <a:t> network stack</a:t>
            </a:r>
          </a:p>
          <a:p>
            <a:pPr lvl="1">
              <a:buFont typeface="Arial"/>
              <a:buChar char="•"/>
              <a:defRPr/>
            </a:pPr>
            <a:r>
              <a:rPr lang="en-US" sz="2800" dirty="0"/>
              <a:t>sniff (receive) packets</a:t>
            </a:r>
          </a:p>
          <a:p>
            <a:pPr lvl="1">
              <a:buFont typeface="Arial"/>
              <a:buChar char="•"/>
              <a:defRPr/>
            </a:pPr>
            <a:r>
              <a:rPr lang="en-US" sz="2800" dirty="0"/>
              <a:t>send packets</a:t>
            </a:r>
          </a:p>
          <a:p>
            <a:pPr lvl="1">
              <a:buFont typeface="Arial"/>
              <a:buChar char="•"/>
              <a:defRPr/>
            </a:pPr>
            <a:r>
              <a:rPr lang="en-US" sz="2800" dirty="0"/>
              <a:t>manipulate packets</a:t>
            </a:r>
            <a:endParaRPr lang="en-US" sz="3200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1A076A-62CA-6A72-ED40-70E161EF7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400" dirty="0">
                <a:cs typeface="Calibri" panose="020F0502020204030204" pitchFamily="34" charset="0"/>
              </a:rPr>
              <a:t>Objective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36413372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4EB87FA-2E3B-B034-F449-40D08677A0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Scapy</a:t>
            </a:r>
            <a:r>
              <a:rPr lang="en-US" dirty="0"/>
              <a:t> maintains </a:t>
            </a:r>
            <a:r>
              <a:rPr lang="en-US" b="1" dirty="0"/>
              <a:t>its own network stack</a:t>
            </a:r>
          </a:p>
          <a:p>
            <a:r>
              <a:rPr lang="en-US" b="1" dirty="0"/>
              <a:t>independent</a:t>
            </a:r>
            <a:r>
              <a:rPr lang="en-US" dirty="0"/>
              <a:t> from the one of your operating system. </a:t>
            </a:r>
          </a:p>
          <a:p>
            <a:r>
              <a:rPr lang="en-US" dirty="0"/>
              <a:t>It possesses its own interfaces list, routing table, ARP cache, IPv6 </a:t>
            </a:r>
            <a:r>
              <a:rPr lang="en-US" dirty="0" err="1"/>
              <a:t>neighbour</a:t>
            </a:r>
            <a:r>
              <a:rPr lang="en-US" dirty="0"/>
              <a:t> cache, nameservers config… and so on, all of which is configurable.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D29A6F3-983E-B80E-8576-47E78C573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Scapy</a:t>
            </a:r>
            <a:r>
              <a:rPr lang="en-US" dirty="0"/>
              <a:t> Stack</a:t>
            </a:r>
          </a:p>
        </p:txBody>
      </p:sp>
    </p:spTree>
    <p:extLst>
      <p:ext uri="{BB962C8B-B14F-4D97-AF65-F5344CB8AC3E}">
        <p14:creationId xmlns:p14="http://schemas.microsoft.com/office/powerpoint/2010/main" val="27505702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D3556D4-7A41-D29D-8ADE-EDDE920AB4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Insall </a:t>
            </a:r>
            <a:r>
              <a:rPr lang="en-US" dirty="0" err="1"/>
              <a:t>scapy</a:t>
            </a:r>
            <a:endParaRPr lang="en-US" dirty="0"/>
          </a:p>
          <a:p>
            <a:pPr marL="130175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pip install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scapy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run </a:t>
            </a:r>
            <a:r>
              <a:rPr lang="en-US" dirty="0" err="1"/>
              <a:t>scapy</a:t>
            </a:r>
            <a:endParaRPr lang="en-US" dirty="0"/>
          </a:p>
          <a:p>
            <a:pPr marL="130175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scapy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0BAD4C3-544C-DDC0-BE62-D0A9D52D1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Getting started</a:t>
            </a:r>
          </a:p>
        </p:txBody>
      </p:sp>
      <p:pic>
        <p:nvPicPr>
          <p:cNvPr id="8" name="Picture 7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6A90BAA6-FFD7-C01A-9073-0543C390FF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0727" y="2856543"/>
            <a:ext cx="7772400" cy="3864077"/>
          </a:xfrm>
          <a:prstGeom prst="rect">
            <a:avLst/>
          </a:prstGeom>
        </p:spPr>
      </p:pic>
      <p:pic>
        <p:nvPicPr>
          <p:cNvPr id="1026" name="Picture 2" descr="DRAGON EGG Meme Contest. Memes are magic. | by Elan Neiger | Medium">
            <a:extLst>
              <a:ext uri="{FF2B5EF4-FFF2-40B4-BE49-F238E27FC236}">
                <a16:creationId xmlns:a16="http://schemas.microsoft.com/office/drawing/2014/main" id="{8D5FC1C5-F3D3-C4EE-C588-4EF889276B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3589" y="4310742"/>
            <a:ext cx="2604655" cy="1953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037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506B3-931E-5A22-AA9B-E64659C0F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060012C-4542-9489-C0D6-2095A88271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ym typeface="Wingdings" pitchFamily="2" charset="2"/>
              </a:rPr>
              <a:t>Concept: help programmer to “see the stack”</a:t>
            </a:r>
          </a:p>
          <a:p>
            <a:r>
              <a:rPr lang="en-US" dirty="0">
                <a:sym typeface="Wingdings" pitchFamily="2" charset="2"/>
              </a:rPr>
              <a:t>First step: Packet forging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366D244-52D4-2441-D5FC-76537117D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First example: Forge UDP packet (datagram </a:t>
            </a:r>
            <a:r>
              <a:rPr lang="en-US" dirty="0">
                <a:sym typeface="Wingdings" pitchFamily="2" charset="2"/>
              </a:rPr>
              <a:t></a:t>
            </a:r>
            <a:r>
              <a:rPr lang="en-US" dirty="0"/>
              <a:t> 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5BC09E-7CE0-6F13-3A64-013708648FC9}"/>
              </a:ext>
            </a:extLst>
          </p:cNvPr>
          <p:cNvSpPr txBox="1"/>
          <p:nvPr/>
        </p:nvSpPr>
        <p:spPr>
          <a:xfrm>
            <a:off x="294290" y="3371546"/>
            <a:ext cx="1189771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0175" indent="0"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pkt = </a:t>
            </a:r>
            <a:r>
              <a:rPr lang="en-US" sz="2000" b="1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IP(</a:t>
            </a:r>
            <a:r>
              <a:rPr lang="en-US" sz="2000" b="1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dst</a:t>
            </a:r>
            <a:r>
              <a:rPr lang="en-US" sz="2000" b="1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="127.0.0.1")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/ </a:t>
            </a:r>
            <a:r>
              <a:rPr lang="en-US" sz="2000" b="1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UDP(</a:t>
            </a:r>
            <a:r>
              <a:rPr lang="en-US" sz="2000" b="1" dirty="0" err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dport</a:t>
            </a:r>
            <a:r>
              <a:rPr lang="en-US" sz="2000" b="1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=8888)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/ </a:t>
            </a:r>
            <a:r>
              <a:rPr lang="en-US" sz="2000" b="1" dirty="0">
                <a:solidFill>
                  <a:schemeClr val="bg1"/>
                </a:solidFill>
                <a:highlight>
                  <a:srgbClr val="3C6CD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Raw(load=</a:t>
            </a:r>
            <a:r>
              <a:rPr lang="en-US" sz="2000" b="1" dirty="0" err="1">
                <a:solidFill>
                  <a:schemeClr val="bg1"/>
                </a:solidFill>
                <a:highlight>
                  <a:srgbClr val="3C6CD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b”Hello</a:t>
            </a:r>
            <a:r>
              <a:rPr lang="en-US" sz="2000" b="1" dirty="0">
                <a:solidFill>
                  <a:schemeClr val="bg1"/>
                </a:solidFill>
                <a:highlight>
                  <a:srgbClr val="3C6CD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World!!")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FD2FAE-B4A9-571F-FBAF-7C4A7851ED0B}"/>
              </a:ext>
            </a:extLst>
          </p:cNvPr>
          <p:cNvSpPr/>
          <p:nvPr/>
        </p:nvSpPr>
        <p:spPr>
          <a:xfrm>
            <a:off x="8630306" y="5064290"/>
            <a:ext cx="2333297" cy="462455"/>
          </a:xfrm>
          <a:prstGeom prst="rect">
            <a:avLst/>
          </a:prstGeom>
          <a:solidFill>
            <a:srgbClr val="02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IP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1638EBA-C39C-17F6-E592-71AD5DE65581}"/>
              </a:ext>
            </a:extLst>
          </p:cNvPr>
          <p:cNvSpPr/>
          <p:nvPr/>
        </p:nvSpPr>
        <p:spPr>
          <a:xfrm>
            <a:off x="8630306" y="4601835"/>
            <a:ext cx="2333297" cy="462455"/>
          </a:xfrm>
          <a:prstGeom prst="rect">
            <a:avLst/>
          </a:prstGeom>
          <a:solidFill>
            <a:srgbClr val="FAFA0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UDP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9ABF39E-137B-232B-97E8-B09077A45711}"/>
              </a:ext>
            </a:extLst>
          </p:cNvPr>
          <p:cNvSpPr/>
          <p:nvPr/>
        </p:nvSpPr>
        <p:spPr>
          <a:xfrm>
            <a:off x="8630305" y="4139380"/>
            <a:ext cx="2333297" cy="4624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APP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F1D6DBD6-EE14-F3C1-41C8-6B2541F511FD}"/>
              </a:ext>
            </a:extLst>
          </p:cNvPr>
          <p:cNvSpPr/>
          <p:nvPr/>
        </p:nvSpPr>
        <p:spPr>
          <a:xfrm>
            <a:off x="2219340" y="3699641"/>
            <a:ext cx="6357101" cy="1714530"/>
          </a:xfrm>
          <a:custGeom>
            <a:avLst/>
            <a:gdLst>
              <a:gd name="connsiteX0" fmla="*/ 6357101 w 6357101"/>
              <a:gd name="connsiteY0" fmla="*/ 1639614 h 1714530"/>
              <a:gd name="connsiteX1" fmla="*/ 1753570 w 6357101"/>
              <a:gd name="connsiteY1" fmla="*/ 1629104 h 1714530"/>
              <a:gd name="connsiteX2" fmla="*/ 82426 w 6357101"/>
              <a:gd name="connsiteY2" fmla="*/ 777766 h 1714530"/>
              <a:gd name="connsiteX3" fmla="*/ 408246 w 6357101"/>
              <a:gd name="connsiteY3" fmla="*/ 0 h 17145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57101" h="1714530">
                <a:moveTo>
                  <a:pt x="6357101" y="1639614"/>
                </a:moveTo>
                <a:cubicBezTo>
                  <a:pt x="4578225" y="1706179"/>
                  <a:pt x="2799349" y="1772745"/>
                  <a:pt x="1753570" y="1629104"/>
                </a:cubicBezTo>
                <a:cubicBezTo>
                  <a:pt x="707791" y="1485463"/>
                  <a:pt x="306647" y="1049283"/>
                  <a:pt x="82426" y="777766"/>
                </a:cubicBezTo>
                <a:cubicBezTo>
                  <a:pt x="-141795" y="506249"/>
                  <a:pt x="133225" y="253124"/>
                  <a:pt x="408246" y="0"/>
                </a:cubicBezTo>
              </a:path>
            </a:pathLst>
          </a:custGeom>
          <a:noFill/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7A98E2E9-FDA7-9C29-913D-3B2946DF1CC1}"/>
              </a:ext>
            </a:extLst>
          </p:cNvPr>
          <p:cNvSpPr/>
          <p:nvPr/>
        </p:nvSpPr>
        <p:spPr>
          <a:xfrm>
            <a:off x="5725175" y="3771656"/>
            <a:ext cx="2905129" cy="1172134"/>
          </a:xfrm>
          <a:custGeom>
            <a:avLst/>
            <a:gdLst>
              <a:gd name="connsiteX0" fmla="*/ 6357101 w 6357101"/>
              <a:gd name="connsiteY0" fmla="*/ 1639614 h 1714530"/>
              <a:gd name="connsiteX1" fmla="*/ 1753570 w 6357101"/>
              <a:gd name="connsiteY1" fmla="*/ 1629104 h 1714530"/>
              <a:gd name="connsiteX2" fmla="*/ 82426 w 6357101"/>
              <a:gd name="connsiteY2" fmla="*/ 777766 h 1714530"/>
              <a:gd name="connsiteX3" fmla="*/ 408246 w 6357101"/>
              <a:gd name="connsiteY3" fmla="*/ 0 h 17145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57101" h="1714530">
                <a:moveTo>
                  <a:pt x="6357101" y="1639614"/>
                </a:moveTo>
                <a:cubicBezTo>
                  <a:pt x="4578225" y="1706179"/>
                  <a:pt x="2799349" y="1772745"/>
                  <a:pt x="1753570" y="1629104"/>
                </a:cubicBezTo>
                <a:cubicBezTo>
                  <a:pt x="707791" y="1485463"/>
                  <a:pt x="306647" y="1049283"/>
                  <a:pt x="82426" y="777766"/>
                </a:cubicBezTo>
                <a:cubicBezTo>
                  <a:pt x="-141795" y="506249"/>
                  <a:pt x="133225" y="253124"/>
                  <a:pt x="408246" y="0"/>
                </a:cubicBezTo>
              </a:path>
            </a:pathLst>
          </a:custGeom>
          <a:noFill/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32675A8E-0670-7C09-252F-C5351F0EFC2E}"/>
              </a:ext>
            </a:extLst>
          </p:cNvPr>
          <p:cNvSpPr/>
          <p:nvPr/>
        </p:nvSpPr>
        <p:spPr>
          <a:xfrm>
            <a:off x="8087096" y="3771656"/>
            <a:ext cx="543208" cy="692340"/>
          </a:xfrm>
          <a:custGeom>
            <a:avLst/>
            <a:gdLst>
              <a:gd name="connsiteX0" fmla="*/ 6357101 w 6357101"/>
              <a:gd name="connsiteY0" fmla="*/ 1639614 h 1714530"/>
              <a:gd name="connsiteX1" fmla="*/ 1753570 w 6357101"/>
              <a:gd name="connsiteY1" fmla="*/ 1629104 h 1714530"/>
              <a:gd name="connsiteX2" fmla="*/ 82426 w 6357101"/>
              <a:gd name="connsiteY2" fmla="*/ 777766 h 1714530"/>
              <a:gd name="connsiteX3" fmla="*/ 408246 w 6357101"/>
              <a:gd name="connsiteY3" fmla="*/ 0 h 17145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57101" h="1714530">
                <a:moveTo>
                  <a:pt x="6357101" y="1639614"/>
                </a:moveTo>
                <a:cubicBezTo>
                  <a:pt x="4578225" y="1706179"/>
                  <a:pt x="2799349" y="1772745"/>
                  <a:pt x="1753570" y="1629104"/>
                </a:cubicBezTo>
                <a:cubicBezTo>
                  <a:pt x="707791" y="1485463"/>
                  <a:pt x="306647" y="1049283"/>
                  <a:pt x="82426" y="777766"/>
                </a:cubicBezTo>
                <a:cubicBezTo>
                  <a:pt x="-141795" y="506249"/>
                  <a:pt x="133225" y="253124"/>
                  <a:pt x="408246" y="0"/>
                </a:cubicBezTo>
              </a:path>
            </a:pathLst>
          </a:custGeom>
          <a:noFill/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5716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8" grpId="0" animBg="1"/>
      <p:bldP spid="9" grpId="0" animBg="1"/>
      <p:bldP spid="12" grpId="0" animBg="1"/>
      <p:bldP spid="13" grpId="0" animBg="1"/>
      <p:bldP spid="1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0C71E82-C6EE-4024-E1BB-FAC35EA60F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ym typeface="Wingdings" pitchFamily="2" charset="2"/>
              </a:rPr>
              <a:t>Easy (too much easy…)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B8AEB82-DBFA-5C3B-2F46-E4F9DB400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First example: send UDP packet (datagram </a:t>
            </a:r>
            <a:r>
              <a:rPr lang="en-US" dirty="0">
                <a:sym typeface="Wingdings" pitchFamily="2" charset="2"/>
              </a:rPr>
              <a:t></a:t>
            </a:r>
            <a:r>
              <a:rPr lang="en-US" dirty="0"/>
              <a:t> 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05B76B-E5A2-03E3-86BA-7144A8701ED3}"/>
              </a:ext>
            </a:extLst>
          </p:cNvPr>
          <p:cNvSpPr txBox="1"/>
          <p:nvPr/>
        </p:nvSpPr>
        <p:spPr>
          <a:xfrm>
            <a:off x="1498891" y="2475648"/>
            <a:ext cx="1189771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0175" indent="0">
              <a:buNone/>
            </a:pP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send(pkt)</a:t>
            </a:r>
            <a:endParaRPr lang="en-US" sz="3200" b="1" dirty="0">
              <a:solidFill>
                <a:schemeClr val="bg1"/>
              </a:solidFill>
              <a:highlight>
                <a:srgbClr val="3C6CD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F88051B-9AD7-B27A-C8E2-44D3470BD044}"/>
              </a:ext>
            </a:extLst>
          </p:cNvPr>
          <p:cNvGrpSpPr/>
          <p:nvPr/>
        </p:nvGrpSpPr>
        <p:grpSpPr>
          <a:xfrm>
            <a:off x="2105536" y="3876380"/>
            <a:ext cx="2333298" cy="1803259"/>
            <a:chOff x="2105536" y="3876380"/>
            <a:chExt cx="2333298" cy="180325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C7F4486-DDFA-5AB8-220A-E82488C3238D}"/>
                </a:ext>
              </a:extLst>
            </p:cNvPr>
            <p:cNvSpPr/>
            <p:nvPr/>
          </p:nvSpPr>
          <p:spPr>
            <a:xfrm>
              <a:off x="2105537" y="4801290"/>
              <a:ext cx="2333297" cy="462455"/>
            </a:xfrm>
            <a:prstGeom prst="rect">
              <a:avLst/>
            </a:prstGeom>
            <a:solidFill>
              <a:srgbClr val="02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IP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7D922D2-C4CC-1433-650F-2751FA3828E3}"/>
                </a:ext>
              </a:extLst>
            </p:cNvPr>
            <p:cNvSpPr/>
            <p:nvPr/>
          </p:nvSpPr>
          <p:spPr>
            <a:xfrm>
              <a:off x="2105537" y="4338835"/>
              <a:ext cx="2333297" cy="462455"/>
            </a:xfrm>
            <a:prstGeom prst="rect">
              <a:avLst/>
            </a:prstGeom>
            <a:solidFill>
              <a:srgbClr val="FAFA0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UDP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FB9FC0A-9D0D-ECC2-B337-D673C2303340}"/>
                </a:ext>
              </a:extLst>
            </p:cNvPr>
            <p:cNvSpPr/>
            <p:nvPr/>
          </p:nvSpPr>
          <p:spPr>
            <a:xfrm>
              <a:off x="2105536" y="3876380"/>
              <a:ext cx="2333297" cy="46245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APP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241F962-B630-A571-5B09-AF0B2444BE07}"/>
                </a:ext>
              </a:extLst>
            </p:cNvPr>
            <p:cNvSpPr txBox="1"/>
            <p:nvPr/>
          </p:nvSpPr>
          <p:spPr>
            <a:xfrm>
              <a:off x="2751034" y="5310307"/>
              <a:ext cx="93166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SENDER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0817C29-51CF-ADE2-3ABE-14505D5648A3}"/>
              </a:ext>
            </a:extLst>
          </p:cNvPr>
          <p:cNvGrpSpPr/>
          <p:nvPr/>
        </p:nvGrpSpPr>
        <p:grpSpPr>
          <a:xfrm>
            <a:off x="3701319" y="3710631"/>
            <a:ext cx="4743954" cy="2581470"/>
            <a:chOff x="3701319" y="3710631"/>
            <a:chExt cx="4743954" cy="2581470"/>
          </a:xfrm>
        </p:grpSpPr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5C7F1967-AC6E-2D64-10A8-0E724CC1860B}"/>
                </a:ext>
              </a:extLst>
            </p:cNvPr>
            <p:cNvSpPr/>
            <p:nvPr/>
          </p:nvSpPr>
          <p:spPr>
            <a:xfrm flipH="1">
              <a:off x="3701319" y="4106924"/>
              <a:ext cx="4200044" cy="2185177"/>
            </a:xfrm>
            <a:custGeom>
              <a:avLst/>
              <a:gdLst>
                <a:gd name="connsiteX0" fmla="*/ 6357101 w 6357101"/>
                <a:gd name="connsiteY0" fmla="*/ 1639614 h 1714530"/>
                <a:gd name="connsiteX1" fmla="*/ 1753570 w 6357101"/>
                <a:gd name="connsiteY1" fmla="*/ 1629104 h 1714530"/>
                <a:gd name="connsiteX2" fmla="*/ 82426 w 6357101"/>
                <a:gd name="connsiteY2" fmla="*/ 777766 h 1714530"/>
                <a:gd name="connsiteX3" fmla="*/ 408246 w 6357101"/>
                <a:gd name="connsiteY3" fmla="*/ 0 h 1714530"/>
                <a:gd name="connsiteX0" fmla="*/ 5634021 w 5634021"/>
                <a:gd name="connsiteY0" fmla="*/ 748965 h 1629133"/>
                <a:gd name="connsiteX1" fmla="*/ 1753570 w 5634021"/>
                <a:gd name="connsiteY1" fmla="*/ 1629104 h 1629133"/>
                <a:gd name="connsiteX2" fmla="*/ 82426 w 5634021"/>
                <a:gd name="connsiteY2" fmla="*/ 777766 h 1629133"/>
                <a:gd name="connsiteX3" fmla="*/ 408246 w 5634021"/>
                <a:gd name="connsiteY3" fmla="*/ 0 h 1629133"/>
                <a:gd name="connsiteX0" fmla="*/ 5634021 w 5634021"/>
                <a:gd name="connsiteY0" fmla="*/ 748965 h 1629133"/>
                <a:gd name="connsiteX1" fmla="*/ 1753570 w 5634021"/>
                <a:gd name="connsiteY1" fmla="*/ 1629104 h 1629133"/>
                <a:gd name="connsiteX2" fmla="*/ 82426 w 5634021"/>
                <a:gd name="connsiteY2" fmla="*/ 777766 h 1629133"/>
                <a:gd name="connsiteX3" fmla="*/ 408246 w 5634021"/>
                <a:gd name="connsiteY3" fmla="*/ 0 h 1629133"/>
                <a:gd name="connsiteX0" fmla="*/ 5634021 w 5634021"/>
                <a:gd name="connsiteY0" fmla="*/ 748965 h 1722040"/>
                <a:gd name="connsiteX1" fmla="*/ 4736426 w 5634021"/>
                <a:gd name="connsiteY1" fmla="*/ 1600621 h 1722040"/>
                <a:gd name="connsiteX2" fmla="*/ 1753570 w 5634021"/>
                <a:gd name="connsiteY2" fmla="*/ 1629104 h 1722040"/>
                <a:gd name="connsiteX3" fmla="*/ 82426 w 5634021"/>
                <a:gd name="connsiteY3" fmla="*/ 777766 h 1722040"/>
                <a:gd name="connsiteX4" fmla="*/ 408246 w 5634021"/>
                <a:gd name="connsiteY4" fmla="*/ 0 h 1722040"/>
                <a:gd name="connsiteX0" fmla="*/ 10241016 w 10241016"/>
                <a:gd name="connsiteY0" fmla="*/ 1212102 h 2185177"/>
                <a:gd name="connsiteX1" fmla="*/ 9343421 w 10241016"/>
                <a:gd name="connsiteY1" fmla="*/ 2063758 h 2185177"/>
                <a:gd name="connsiteX2" fmla="*/ 6360565 w 10241016"/>
                <a:gd name="connsiteY2" fmla="*/ 2092241 h 2185177"/>
                <a:gd name="connsiteX3" fmla="*/ 4689421 w 10241016"/>
                <a:gd name="connsiteY3" fmla="*/ 1240903 h 2185177"/>
                <a:gd name="connsiteX4" fmla="*/ 11542 w 10241016"/>
                <a:gd name="connsiteY4" fmla="*/ 0 h 2185177"/>
                <a:gd name="connsiteX0" fmla="*/ 10229474 w 10229474"/>
                <a:gd name="connsiteY0" fmla="*/ 1212102 h 2185177"/>
                <a:gd name="connsiteX1" fmla="*/ 9331879 w 10229474"/>
                <a:gd name="connsiteY1" fmla="*/ 2063758 h 2185177"/>
                <a:gd name="connsiteX2" fmla="*/ 6349023 w 10229474"/>
                <a:gd name="connsiteY2" fmla="*/ 2092241 h 2185177"/>
                <a:gd name="connsiteX3" fmla="*/ 4677879 w 10229474"/>
                <a:gd name="connsiteY3" fmla="*/ 1240903 h 2185177"/>
                <a:gd name="connsiteX4" fmla="*/ 0 w 10229474"/>
                <a:gd name="connsiteY4" fmla="*/ 0 h 2185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29474" h="2185177">
                  <a:moveTo>
                    <a:pt x="10229474" y="1212102"/>
                  </a:moveTo>
                  <a:cubicBezTo>
                    <a:pt x="10070234" y="1312481"/>
                    <a:pt x="9978621" y="1917068"/>
                    <a:pt x="9331879" y="2063758"/>
                  </a:cubicBezTo>
                  <a:cubicBezTo>
                    <a:pt x="8685137" y="2210448"/>
                    <a:pt x="7124690" y="2229383"/>
                    <a:pt x="6349023" y="2092241"/>
                  </a:cubicBezTo>
                  <a:cubicBezTo>
                    <a:pt x="5573356" y="1955099"/>
                    <a:pt x="4902100" y="1512420"/>
                    <a:pt x="4677879" y="1240903"/>
                  </a:cubicBezTo>
                  <a:cubicBezTo>
                    <a:pt x="4453658" y="969386"/>
                    <a:pt x="1865289" y="122496"/>
                    <a:pt x="0" y="0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38882CB-DBC0-B108-8D5C-AC5106FB0B10}"/>
                </a:ext>
              </a:extLst>
            </p:cNvPr>
            <p:cNvSpPr txBox="1"/>
            <p:nvPr/>
          </p:nvSpPr>
          <p:spPr>
            <a:xfrm>
              <a:off x="7999317" y="3710631"/>
              <a:ext cx="445956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400" dirty="0"/>
                <a:t>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28618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67DE5B3-FB6D-0C2F-0BFA-A118816D1E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Simply open another terminal (or a new tab in </a:t>
            </a:r>
            <a:r>
              <a:rPr lang="en-US" dirty="0" err="1"/>
              <a:t>tmux</a:t>
            </a:r>
            <a:r>
              <a:rPr lang="en-US" dirty="0"/>
              <a:t>)</a:t>
            </a:r>
          </a:p>
          <a:p>
            <a:pPr marL="130175" indent="0">
              <a:buNone/>
            </a:pPr>
            <a:r>
              <a:rPr lang="en-US" dirty="0" err="1"/>
              <a:t>easlily</a:t>
            </a:r>
            <a:r>
              <a:rPr lang="en-US" dirty="0"/>
              <a:t>:</a:t>
            </a:r>
          </a:p>
          <a:p>
            <a:pPr marL="130175" indent="0">
              <a:buNone/>
            </a:pPr>
            <a:endParaRPr lang="en-US" dirty="0"/>
          </a:p>
          <a:p>
            <a:pPr marL="130175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B7F0D8D-1395-90D5-1BD3-0BE97EE46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Sniffer (receiver)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7DF3DF-4329-6D0F-5F9B-2EA911FB0F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64B7A4-9E9E-A682-3A35-CD903052BD0D}"/>
              </a:ext>
            </a:extLst>
          </p:cNvPr>
          <p:cNvSpPr txBox="1"/>
          <p:nvPr/>
        </p:nvSpPr>
        <p:spPr>
          <a:xfrm>
            <a:off x="1473530" y="3061302"/>
            <a:ext cx="988027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0175" indent="0">
              <a:buNone/>
            </a:pP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sniff(</a:t>
            </a:r>
          </a:p>
          <a:p>
            <a:pPr marL="130175" indent="0">
              <a:buNone/>
            </a:pP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3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iface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="lo", </a:t>
            </a:r>
          </a:p>
          <a:p>
            <a:pPr marL="130175" indent="0">
              <a:buNone/>
            </a:pP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	prn=lambda pkt: </a:t>
            </a:r>
            <a:r>
              <a:rPr lang="en-US" sz="3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pkt.summary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(), </a:t>
            </a:r>
          </a:p>
          <a:p>
            <a:pPr marL="130175" indent="0">
              <a:buNone/>
            </a:pP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	filter= "</a:t>
            </a:r>
            <a:r>
              <a:rPr lang="en-US" sz="3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udp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3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dst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port 8888”</a:t>
            </a:r>
          </a:p>
          <a:p>
            <a:pPr marL="130175" indent="0">
              <a:buNone/>
            </a:pP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479219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E2285F7-1101-F60B-6752-77FCAEFD5E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Linux users:</a:t>
            </a:r>
          </a:p>
          <a:p>
            <a:r>
              <a:rPr lang="en-US" dirty="0" err="1"/>
              <a:t>scapy</a:t>
            </a:r>
            <a:r>
              <a:rPr lang="en-US" dirty="0"/>
              <a:t> works with admin privileges</a:t>
            </a:r>
          </a:p>
          <a:p>
            <a:r>
              <a:rPr lang="en-US" dirty="0"/>
              <a:t>a simple trick (if you’re working with </a:t>
            </a:r>
            <a:r>
              <a:rPr lang="en-US" dirty="0" err="1"/>
              <a:t>conda</a:t>
            </a:r>
            <a:r>
              <a:rPr lang="en-US" dirty="0"/>
              <a:t>)</a:t>
            </a:r>
          </a:p>
          <a:p>
            <a:pPr marL="130175" indent="0">
              <a:buNone/>
            </a:pP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30175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$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conda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activate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your_env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30175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$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sudo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$(which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scapy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D1F75AE-5153-AF66-29C5-AC7819C30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6DF9F3-EEDC-F257-11A6-70F35E4631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9768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8281F1D-AC04-C0C9-4CF8-1B1938188D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Sent 1 packet…</a:t>
            </a:r>
          </a:p>
          <a:p>
            <a:r>
              <a:rPr lang="en-US" dirty="0"/>
              <a:t>Received 2 packets?</a:t>
            </a:r>
          </a:p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Q</a:t>
            </a:r>
            <a:r>
              <a:rPr lang="en-US" dirty="0"/>
              <a:t>: why?</a:t>
            </a:r>
          </a:p>
          <a:p>
            <a:r>
              <a:rPr lang="en-US" dirty="0">
                <a:solidFill>
                  <a:srgbClr val="FF0000"/>
                </a:solidFill>
              </a:rPr>
              <a:t>A</a:t>
            </a:r>
            <a:r>
              <a:rPr lang="en-US" dirty="0"/>
              <a:t>: something under the hood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93B2310-2723-B667-C479-D02009D44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Try it!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3AC2FE-F67A-C647-C513-A3F6D6F2F5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522CCB-9281-170C-15E5-CCA1F6E9D0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908" r="8211"/>
          <a:stretch>
            <a:fillRect/>
          </a:stretch>
        </p:blipFill>
        <p:spPr>
          <a:xfrm>
            <a:off x="6166617" y="899132"/>
            <a:ext cx="6025383" cy="556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5745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43B85C5-619A-BC84-04DE-57549F2079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30175" indent="0">
              <a:buNone/>
            </a:pPr>
            <a:r>
              <a:rPr lang="en-US" b="1" dirty="0"/>
              <a:t>On client side (sender)</a:t>
            </a:r>
          </a:p>
          <a:p>
            <a:r>
              <a:rPr lang="en-US" dirty="0"/>
              <a:t>build a UDP packet over IP</a:t>
            </a:r>
          </a:p>
          <a:p>
            <a:r>
              <a:rPr lang="en-US" dirty="0"/>
              <a:t>inspect useful fields (e.g. port header in UDP )</a:t>
            </a:r>
          </a:p>
          <a:p>
            <a:r>
              <a:rPr lang="en-US" dirty="0"/>
              <a:t>explore functionalities such as ls(), build(), show()</a:t>
            </a:r>
          </a:p>
          <a:p>
            <a:r>
              <a:rPr lang="en-US" dirty="0"/>
              <a:t>exploit some low-level trick (e.g. change on byte level an IP address)</a:t>
            </a:r>
          </a:p>
          <a:p>
            <a:r>
              <a:rPr lang="en-US" dirty="0"/>
              <a:t>create custom Application level payload</a:t>
            </a:r>
          </a:p>
          <a:p>
            <a:pPr marL="130175" indent="0">
              <a:buNone/>
            </a:pPr>
            <a:r>
              <a:rPr lang="en-US" b="1" dirty="0"/>
              <a:t>On server side (receiver)</a:t>
            </a:r>
          </a:p>
          <a:p>
            <a:pPr marL="130175" indent="0">
              <a:buNone/>
            </a:pPr>
            <a:r>
              <a:rPr lang="en-US" dirty="0"/>
              <a:t>Recycle what we did in 05_SOCKET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A6A672F-1CD9-A30B-D517-F26949D59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C4B31B-0AC3-F78B-ED7C-E46A3950CC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97381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17401B4-4F80-DA3F-9C15-519F221DE3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Packet “idea”: IP(&lt;something here…&gt;) / UDP(…) / DNS ()</a:t>
            </a:r>
          </a:p>
          <a:p>
            <a:r>
              <a:rPr lang="en-US" dirty="0" err="1"/>
              <a:t>scapy</a:t>
            </a:r>
            <a:r>
              <a:rPr lang="en-US" dirty="0"/>
              <a:t> DNS docs: </a:t>
            </a:r>
            <a:r>
              <a:rPr lang="en-US" dirty="0" err="1"/>
              <a:t>scapy.readthedocs.io</a:t>
            </a:r>
            <a:r>
              <a:rPr lang="en-US" dirty="0"/>
              <a:t>/</a:t>
            </a:r>
            <a:r>
              <a:rPr lang="en-US" dirty="0" err="1"/>
              <a:t>en</a:t>
            </a:r>
            <a:r>
              <a:rPr lang="en-US" dirty="0"/>
              <a:t>/latest/</a:t>
            </a:r>
            <a:r>
              <a:rPr lang="en-US" dirty="0" err="1"/>
              <a:t>api</a:t>
            </a:r>
            <a:r>
              <a:rPr lang="en-US" dirty="0"/>
              <a:t>/</a:t>
            </a:r>
            <a:r>
              <a:rPr lang="en-US" dirty="0" err="1"/>
              <a:t>scapy.layers.dns.html</a:t>
            </a:r>
            <a:endParaRPr lang="en-US" dirty="0"/>
          </a:p>
          <a:p>
            <a:r>
              <a:rPr lang="en-US" dirty="0"/>
              <a:t>forge the DNS request</a:t>
            </a:r>
          </a:p>
          <a:p>
            <a:r>
              <a:rPr lang="en-US" dirty="0"/>
              <a:t>send a single “Send and </a:t>
            </a:r>
            <a:r>
              <a:rPr lang="en-US" dirty="0" err="1"/>
              <a:t>Recive</a:t>
            </a:r>
            <a:r>
              <a:rPr lang="en-US" dirty="0"/>
              <a:t>” (</a:t>
            </a:r>
            <a:r>
              <a:rPr lang="en-US" dirty="0" err="1"/>
              <a:t>scapy</a:t>
            </a:r>
            <a:r>
              <a:rPr lang="en-US" dirty="0"/>
              <a:t> has a function for this)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45C461A-5193-E3F4-4E1B-0F76F9BE8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2: Create a DNS request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7F1D48-0B44-30D1-C29D-6E5C5C485A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64324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5FA7833-6428-D2B3-6F0B-7D976CA332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Implement a </a:t>
            </a:r>
            <a:r>
              <a:rPr lang="en-US" dirty="0" err="1"/>
              <a:t>scapy</a:t>
            </a:r>
            <a:r>
              <a:rPr lang="en-US" dirty="0"/>
              <a:t>-based traceroute!</a:t>
            </a:r>
          </a:p>
          <a:p>
            <a:r>
              <a:rPr lang="en-US" dirty="0"/>
              <a:t>here we just need to exploit ”</a:t>
            </a:r>
            <a:r>
              <a:rPr lang="en-US" dirty="0" err="1"/>
              <a:t>ttl</a:t>
            </a:r>
            <a:r>
              <a:rPr lang="en-US" dirty="0"/>
              <a:t>” fields in IP level</a:t>
            </a:r>
          </a:p>
          <a:p>
            <a:r>
              <a:rPr lang="en-US" dirty="0"/>
              <a:t>TTL = TIME TO LIVE == max packet hops allowed</a:t>
            </a:r>
          </a:p>
          <a:p>
            <a:r>
              <a:rPr lang="en-US" dirty="0"/>
              <a:t>outcome expected: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2FFB193-F28A-2C98-EA68-3C39D0696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3 – Custom Traceroute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33C2C8-EC29-241E-73E7-E64AAFE549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68314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10873</TotalTime>
  <Words>471</Words>
  <Application>Microsoft Macintosh PowerPoint</Application>
  <PresentationFormat>Widescreen</PresentationFormat>
  <Paragraphs>83</Paragraphs>
  <Slides>12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Courier New</vt:lpstr>
      <vt:lpstr>Wingdings</vt:lpstr>
      <vt:lpstr>Office Theme</vt:lpstr>
      <vt:lpstr>PowerPoint Presentation</vt:lpstr>
      <vt:lpstr>Objective</vt:lpstr>
      <vt:lpstr>Scapy Stack</vt:lpstr>
      <vt:lpstr>Getting started</vt:lpstr>
      <vt:lpstr>First example: Forge UDP packet (datagram  )</vt:lpstr>
      <vt:lpstr>First example: send UDP packet (datagram  )</vt:lpstr>
      <vt:lpstr>Sniffer (receiver)</vt:lpstr>
      <vt:lpstr>Notes</vt:lpstr>
      <vt:lpstr>Try it!</vt:lpstr>
      <vt:lpstr>Exercise 1</vt:lpstr>
      <vt:lpstr>Exercise 2: Create a DNS request</vt:lpstr>
      <vt:lpstr>Exercise 3 – Custom Traceroute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James Kurose</dc:creator>
  <cp:lastModifiedBy>FABRIZIO GIULIANO</cp:lastModifiedBy>
  <cp:revision>425</cp:revision>
  <dcterms:created xsi:type="dcterms:W3CDTF">2020-01-18T07:24:59Z</dcterms:created>
  <dcterms:modified xsi:type="dcterms:W3CDTF">2025-10-31T07:36:49Z</dcterms:modified>
</cp:coreProperties>
</file>